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1F0A0-8AE4-01AD-C3FF-ABFE75A2D0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28412-A251-A661-EBB5-973EE8955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7F033-68A9-D782-35D9-ADE05D80E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D81F-67FF-4609-9487-570D634B9B9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07724-3101-FDBC-6720-2B462F2B4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CA023-235B-2761-1563-80897E154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3B4A4-EFF8-450D-89AB-118D55F37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880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C332-6BD6-9BA0-45F6-E23061F13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3312A-5558-96F9-5380-191039541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0F4EF-539C-A406-DC50-7BC447F1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D81F-67FF-4609-9487-570D634B9B9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D3EDC-534E-98DC-436B-7474908AD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E7781-69D9-40C5-88D4-518945472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3B4A4-EFF8-450D-89AB-118D55F37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57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4DF69-E328-AA4B-1368-5BFA65C9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D16A1-8AE5-1347-F929-C67BF5958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DE91A-6E99-5DCF-F881-03CE04014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D81F-67FF-4609-9487-570D634B9B9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9A0F4-2F6A-9734-0846-7E70612EE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E7B13-25A4-02B2-8555-0D7152EF5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3B4A4-EFF8-450D-89AB-118D55F37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912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76D77-4A5E-8634-1294-FC75B9196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A2C7B-0F9E-A776-8A5B-A8272E0F8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B232A-98E8-8BD9-F77A-9D735CCCE2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6E6871-28C1-52DA-84A4-9FCA77F4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D81F-67FF-4609-9487-570D634B9B9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C0ACA2-8E49-C55D-CC4F-F274F3AEC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9B832-341A-CEF4-7C3B-89DCA0B9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3B4A4-EFF8-450D-89AB-118D55F37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351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CB5F-FBCF-0662-99C3-DBC6AED98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2CCFB-1618-A95B-ECAA-1EE96FD5D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79504-BFC1-BF1A-CD33-EFB7939991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0EF4C6-652F-5028-A068-AB09D2BA10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48468B-BCD5-1358-2392-D12BCB4B22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33023D-25A6-DB8B-F331-A6202BBD7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D81F-67FF-4609-9487-570D634B9B9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698B71-08B0-E40E-C763-BE0D4041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63EDF-1457-CF8D-776F-248207493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3B4A4-EFF8-450D-89AB-118D55F37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48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92650-41C6-02AF-8C29-B2DF455BE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4D1F95-0464-D2DC-8D8C-36EB6C2C7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D81F-67FF-4609-9487-570D634B9B9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0E51E9-7AF8-4FDE-C1DD-93FA091B0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EE4F3-79A2-E6A0-5A02-A7A30018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3B4A4-EFF8-450D-89AB-118D55F37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521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2E5C60-3E60-09C0-1B78-7E52D2EAF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D81F-67FF-4609-9487-570D634B9B9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BC4131-74F2-3B13-F97D-E6F5BD535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D2BA6-7F35-5017-6DD3-F76D0853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3B4A4-EFF8-450D-89AB-118D55F37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597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B9135-F429-5999-2681-178073CB9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0D851-7D8B-ECC4-7AAB-A48DB2FB5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1A39A-2B5B-0FCF-251D-A71BB8735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C33ABE-6F3E-61FF-5B50-63EA9E570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D81F-67FF-4609-9487-570D634B9B9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B6D57-F072-11B9-76B1-B0AA192E3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56A0B-0539-F433-D850-F6A652D70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3B4A4-EFF8-450D-89AB-118D55F37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59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BA9F8-3057-E7A6-B118-5B69449DD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468EE7-8886-1AED-2702-F7B9C5028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427B7-1977-BC1D-D64A-9E17CCEA8F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1F428-DEFA-F929-275D-B1ECBC448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D81F-67FF-4609-9487-570D634B9B9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D8143-1C77-F39F-8319-B8A3CB2C1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C0111-4320-DAF9-04A0-E8CCE484B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3B4A4-EFF8-450D-89AB-118D55F37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95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5610-999E-75AE-2F38-3C0765469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309B9-212D-9CD9-27BE-155558C469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0F49B-5052-B58B-DED3-D780CBFBA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D81F-67FF-4609-9487-570D634B9B9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6C24F-D94A-3F3D-A0D4-883EA9EF6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E13D9-0D1E-8247-5934-35C911E0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3B4A4-EFF8-450D-89AB-118D55F37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37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608B14-C451-CFCE-DB8A-00B94F5AA0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87836-9F0F-3652-9F4E-CC9F820617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7AEDE-DBBB-54EE-DDAC-66FD03E72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2D81F-67FF-4609-9487-570D634B9B9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4AEBF-AC16-20A0-4226-5FA4D2B7F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F1A93-3473-9A56-9674-CC1411E1D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3B4A4-EFF8-450D-89AB-118D55F37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448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86564D-C08D-2812-C27D-A72449E78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18416C-F273-BE9F-5858-94061DE2D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75AC3-D8F5-85C6-6FD5-61F78F1468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42D81F-67FF-4609-9487-570D634B9B9C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42498-7236-A774-0435-2AD71FAE7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0ADF5-543C-D058-B4B7-CBBB8F2720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3B4A4-EFF8-450D-89AB-118D55F37C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05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3971-F061-6BE0-6CF0-15726440B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7323"/>
            <a:ext cx="9144000" cy="231493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Smart Mining Equipment Monitoring &amp; Fault Prediction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DB5E70-3710-FDF4-CF55-AF8AFAD7F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58005"/>
            <a:ext cx="9144000" cy="3923818"/>
          </a:xfrm>
        </p:spPr>
        <p:txBody>
          <a:bodyPr>
            <a:noAutofit/>
          </a:bodyPr>
          <a:lstStyle/>
          <a:p>
            <a:r>
              <a:rPr lang="en-US" sz="2800" b="1" dirty="0"/>
              <a:t>PROBLEM DEFINITION</a:t>
            </a:r>
            <a:endParaRPr lang="en-US" sz="2800" dirty="0"/>
          </a:p>
          <a:p>
            <a:r>
              <a:rPr lang="en-US" sz="2800" b="1" dirty="0"/>
              <a:t>Issue:</a:t>
            </a:r>
            <a:r>
              <a:rPr lang="en-US" sz="2800" dirty="0"/>
              <a:t> Costly, unpredictable breakdowns in heavy equipment lead to </a:t>
            </a:r>
            <a:r>
              <a:rPr lang="en-US" sz="2800" b="1" dirty="0"/>
              <a:t>major unplanned downtime</a:t>
            </a:r>
            <a:r>
              <a:rPr lang="en-US" sz="2800" dirty="0"/>
              <a:t> and inefficient maintenance schedules.</a:t>
            </a:r>
          </a:p>
          <a:p>
            <a:r>
              <a:rPr lang="en-US" sz="2800" b="1" dirty="0"/>
              <a:t>Goal:</a:t>
            </a:r>
            <a:r>
              <a:rPr lang="en-US" sz="2800" dirty="0"/>
              <a:t> Replace reactive/time-based maintenance with a </a:t>
            </a:r>
            <a:r>
              <a:rPr lang="en-US" sz="2800" b="1" dirty="0"/>
              <a:t>condition-based, predictive</a:t>
            </a:r>
            <a:r>
              <a:rPr lang="en-US" sz="2800" dirty="0"/>
              <a:t> approach.</a:t>
            </a:r>
          </a:p>
          <a:p>
            <a:r>
              <a:rPr lang="en-US" sz="2800" b="1" dirty="0"/>
              <a:t>Solution:</a:t>
            </a:r>
            <a:r>
              <a:rPr lang="en-US" sz="2800" dirty="0"/>
              <a:t> Implement a </a:t>
            </a:r>
            <a:r>
              <a:rPr lang="en-US" sz="2800" b="1" dirty="0"/>
              <a:t>PL/SQL Oracle database</a:t>
            </a:r>
            <a:r>
              <a:rPr lang="en-US" sz="2800" dirty="0"/>
              <a:t> solution using </a:t>
            </a:r>
            <a:r>
              <a:rPr lang="en-US" sz="2800" dirty="0" err="1"/>
              <a:t>IIoT</a:t>
            </a:r>
            <a:r>
              <a:rPr lang="en-US" sz="2800" dirty="0"/>
              <a:t> data to forecast failures.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7313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B1CCF-68A8-8B4B-F82D-DD7D1C9B2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latin typeface="Arial" panose="020B0604020202020204" pitchFamily="34" charset="0"/>
              </a:rPr>
              <a:t>CONTEXT AND STAKEHOLDERS</a:t>
            </a:r>
            <a:br>
              <a:rPr lang="en-US" altLang="en-US" dirty="0">
                <a:latin typeface="Arial" panose="020B0604020202020204" pitchFamily="34" charset="0"/>
              </a:rPr>
            </a:br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84D847DD-E688-9495-37BE-93753399976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37" b="7037"/>
          <a:stretch>
            <a:fillRect/>
          </a:stretch>
        </p:blipFill>
        <p:spPr/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4810EAC-9A94-7CE9-33B5-8253D2EF5A9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2301201"/>
            <a:ext cx="4160475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Where: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Large open-pit and underground mining operations.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Real-time sensor data is streamed from equipment to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Oracle PL/SQL platform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processing, validation, and automated alerting.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Shutterstock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Target Users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Maintenance Engineers: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Receive early fault predictions for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just-in-time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scheduling.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Mine Management: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Track operational efficiency (OEE) and budget for spares.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Supply Chain: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Optimize inventory of critical spare parts based on forecasts.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501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264AA-A946-DF9D-2B5E-587038518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5635"/>
            <a:ext cx="9144000" cy="1447418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GOALS AND OUTCOMES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EBAF6E-FD48-A9FE-6ECE-7357C9528C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51949"/>
            <a:ext cx="9144000" cy="3452150"/>
          </a:xfrm>
        </p:spPr>
        <p:txBody>
          <a:bodyPr>
            <a:normAutofit fontScale="92500" lnSpcReduction="20000"/>
          </a:bodyPr>
          <a:lstStyle/>
          <a:p>
            <a:r>
              <a:rPr lang="en-US" b="1" u="sng" dirty="0"/>
              <a:t>Project Goals</a:t>
            </a:r>
            <a:endParaRPr lang="en-US" u="sng" dirty="0"/>
          </a:p>
          <a:p>
            <a:r>
              <a:rPr lang="en-US" dirty="0"/>
              <a:t>Develop a </a:t>
            </a:r>
            <a:r>
              <a:rPr lang="en-US" b="1" dirty="0"/>
              <a:t>robust PL/SQL architecture</a:t>
            </a:r>
            <a:r>
              <a:rPr lang="en-US" dirty="0"/>
              <a:t> for high-volume sensor data handling.</a:t>
            </a:r>
          </a:p>
          <a:p>
            <a:r>
              <a:rPr lang="en-US" dirty="0"/>
              <a:t>Implement PL/SQL procedures to calculate Equipment Health Index and </a:t>
            </a:r>
            <a:r>
              <a:rPr lang="en-US" b="1" dirty="0"/>
              <a:t>Remaining Useful Life (RUL)</a:t>
            </a:r>
            <a:r>
              <a:rPr lang="en-US" dirty="0"/>
              <a:t>.</a:t>
            </a:r>
          </a:p>
          <a:p>
            <a:r>
              <a:rPr lang="en-US" dirty="0"/>
              <a:t>Integrate ML/rules to generate high-confidence </a:t>
            </a:r>
            <a:r>
              <a:rPr lang="en-US" b="1" dirty="0"/>
              <a:t>fault predictions</a:t>
            </a:r>
            <a:r>
              <a:rPr lang="en-US" dirty="0"/>
              <a:t>.</a:t>
            </a:r>
          </a:p>
          <a:p>
            <a:r>
              <a:rPr lang="en-US" b="1" u="sng" dirty="0"/>
              <a:t>Expected Outcomes</a:t>
            </a:r>
            <a:endParaRPr lang="en-US" u="sng" dirty="0"/>
          </a:p>
          <a:p>
            <a:r>
              <a:rPr lang="en-US" b="1" dirty="0"/>
              <a:t>Reduce Unplanned Downtime:</a:t>
            </a:r>
            <a:r>
              <a:rPr lang="en-US" dirty="0"/>
              <a:t> Target a </a:t>
            </a:r>
            <a:r>
              <a:rPr lang="en-US" b="1" dirty="0"/>
              <a:t>15% - 25% decrease</a:t>
            </a:r>
            <a:r>
              <a:rPr lang="en-US" dirty="0"/>
              <a:t>.</a:t>
            </a:r>
          </a:p>
          <a:p>
            <a:r>
              <a:rPr lang="en-US" b="1" dirty="0"/>
              <a:t>Reduce Maintenance Costs:</a:t>
            </a:r>
            <a:r>
              <a:rPr lang="en-US" dirty="0"/>
              <a:t> Target a </a:t>
            </a:r>
            <a:r>
              <a:rPr lang="en-US" b="1" dirty="0"/>
              <a:t>10% reduction</a:t>
            </a:r>
            <a:r>
              <a:rPr lang="en-US" dirty="0"/>
              <a:t> by avoiding catastrophic failures and unnecessary parts replacement.</a:t>
            </a:r>
          </a:p>
          <a:p>
            <a:r>
              <a:rPr lang="en-US" b="1" dirty="0"/>
              <a:t>Increase Equipment Availability</a:t>
            </a:r>
            <a:r>
              <a:rPr lang="en-US" dirty="0"/>
              <a:t> and maximize asset lifespan.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688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5AAD3-2F23-EF84-1494-39931D92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BUSINESS INTELLIGENCE (BI) POTENTIAL</a:t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9CFF46D-E561-FB62-D6E6-FF2BFF074FB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20" b="7720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EECEA8-4FBE-FD91-4377-7344D9E1FFC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How Analytics Enhance Decision-Making</a:t>
            </a:r>
            <a:endParaRPr lang="en-US" dirty="0"/>
          </a:p>
          <a:p>
            <a:r>
              <a:rPr lang="en-US" b="1" dirty="0"/>
              <a:t>Asset Criticality Dashboard:</a:t>
            </a:r>
            <a:r>
              <a:rPr lang="en-US" dirty="0"/>
              <a:t> Prioritize repairs based on RUL, cost-of-failure, and asset utilization.</a:t>
            </a:r>
          </a:p>
          <a:p>
            <a:r>
              <a:rPr lang="en-US" b="1" dirty="0"/>
              <a:t>Root Cause Analysis (RCA):</a:t>
            </a:r>
            <a:r>
              <a:rPr lang="en-US" dirty="0"/>
              <a:t> Correlate failure history with specific </a:t>
            </a:r>
            <a:r>
              <a:rPr lang="en-US" b="1" dirty="0"/>
              <a:t>operating conditions</a:t>
            </a:r>
            <a:r>
              <a:rPr lang="en-US" dirty="0"/>
              <a:t> or </a:t>
            </a:r>
            <a:r>
              <a:rPr lang="en-US" b="1" dirty="0"/>
              <a:t>locations</a:t>
            </a:r>
            <a:r>
              <a:rPr lang="en-US" dirty="0"/>
              <a:t> to identify systemic issues.</a:t>
            </a:r>
          </a:p>
          <a:p>
            <a:r>
              <a:rPr lang="en-US" b="1" dirty="0"/>
              <a:t>Inventory Optimization:</a:t>
            </a:r>
            <a:r>
              <a:rPr lang="en-US" dirty="0"/>
              <a:t> Forecast spare parts demand (e.g., </a:t>
            </a:r>
            <a:r>
              <a:rPr lang="en-US" i="1" dirty="0"/>
              <a:t>number of hydraulic pumps needed next month</a:t>
            </a:r>
            <a:r>
              <a:rPr lang="en-US" dirty="0"/>
              <a:t>) directly from prediction data.</a:t>
            </a:r>
          </a:p>
          <a:p>
            <a:r>
              <a:rPr lang="en-US" b="1" dirty="0"/>
              <a:t>Operator Performance:</a:t>
            </a:r>
            <a:r>
              <a:rPr lang="en-US" dirty="0"/>
              <a:t> Link equipment degradation to operating styles for targeted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5592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312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Smart Mining Equipment Monitoring &amp; Fault Prediction System</vt:lpstr>
      <vt:lpstr>CONTEXT AND STAKEHOLDERS </vt:lpstr>
      <vt:lpstr>PROJECT GOALS AND OUTCOMES</vt:lpstr>
      <vt:lpstr>BUSINESS INTELLIGENCE (BI) POTENTIAL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arsene bahati</dc:creator>
  <cp:lastModifiedBy>arsene bahati</cp:lastModifiedBy>
  <cp:revision>1</cp:revision>
  <dcterms:created xsi:type="dcterms:W3CDTF">2025-12-07T10:01:46Z</dcterms:created>
  <dcterms:modified xsi:type="dcterms:W3CDTF">2025-12-07T10:45:53Z</dcterms:modified>
</cp:coreProperties>
</file>